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855a13c7d5c4c4f" /><Relationship Type="http://schemas.openxmlformats.org/officeDocument/2006/relationships/extended-properties" Target="/docProps/app.xml" Id="R55b87e78441c4164" /><Relationship Type="http://schemas.openxmlformats.org/officeDocument/2006/relationships/officeDocument" Target="/ppt/presentation.xml" Id="Rc4a6f1e2769d4f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af5c5ee3f249a6"/>
  </p:sldMasterIdLst>
  <p:notesMasterIdLst>
    <p:notesMasterId xmlns:r="http://schemas.openxmlformats.org/officeDocument/2006/relationships" r:id="R4169b91997ec4a69"/>
  </p:notesMasterIdLst>
  <p:sldIdLst>
    <p:sldId xmlns:r="http://schemas.openxmlformats.org/officeDocument/2006/relationships" id="256" r:id="Re7e12acf777c420f"/>
    <p:sldId xmlns:r="http://schemas.openxmlformats.org/officeDocument/2006/relationships" id="257" r:id="R27f69ee0bc54470e"/>
    <p:sldId xmlns:r="http://schemas.openxmlformats.org/officeDocument/2006/relationships" id="258" r:id="R26566870890f4614"/>
    <p:sldId xmlns:r="http://schemas.openxmlformats.org/officeDocument/2006/relationships" id="259" r:id="R10dab3983f1a4a9c"/>
    <p:sldId xmlns:r="http://schemas.openxmlformats.org/officeDocument/2006/relationships" id="260" r:id="R97b2ceb52d1c4351"/>
    <p:sldId xmlns:r="http://schemas.openxmlformats.org/officeDocument/2006/relationships" id="261" r:id="R0c7b47c7258c4d0f"/>
    <p:sldId xmlns:r="http://schemas.openxmlformats.org/officeDocument/2006/relationships" id="262" r:id="R41a0b72f958a4614"/>
    <p:sldId xmlns:r="http://schemas.openxmlformats.org/officeDocument/2006/relationships" id="263" r:id="R7986a48677d94d5c"/>
    <p:sldId xmlns:r="http://schemas.openxmlformats.org/officeDocument/2006/relationships" id="264" r:id="R19d7a11087104917"/>
    <p:sldId xmlns:r="http://schemas.openxmlformats.org/officeDocument/2006/relationships" id="265" r:id="Rf8fd63e43d614cbd"/>
    <p:sldId xmlns:r="http://schemas.openxmlformats.org/officeDocument/2006/relationships" id="266" r:id="R9c379246e6414397"/>
    <p:sldId xmlns:r="http://schemas.openxmlformats.org/officeDocument/2006/relationships" id="267" r:id="R4c19a5c943604450"/>
    <p:sldId xmlns:r="http://schemas.openxmlformats.org/officeDocument/2006/relationships" id="268" r:id="Rfa6fb23a5c404067"/>
    <p:sldId xmlns:r="http://schemas.openxmlformats.org/officeDocument/2006/relationships" id="269" r:id="R489be14123fe48fd"/>
    <p:sldId xmlns:r="http://schemas.openxmlformats.org/officeDocument/2006/relationships" id="270" r:id="R269af4d2ccc749a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46f80466354689" /><Relationship Type="http://schemas.openxmlformats.org/officeDocument/2006/relationships/slideMaster" Target="/ppt/slideMasters/slideMaster1.xml" Id="Racaf5c5ee3f249a6" /><Relationship Type="http://schemas.openxmlformats.org/officeDocument/2006/relationships/notesMaster" Target="/ppt/notesMasters/notesMaster1.xml" Id="R4169b91997ec4a69" /><Relationship Type="http://schemas.openxmlformats.org/officeDocument/2006/relationships/presProps" Target="/ppt/presProps.xml" Id="R453bb110ba3b4870" /><Relationship Type="http://schemas.openxmlformats.org/officeDocument/2006/relationships/viewProps" Target="/ppt/viewProps.xml" Id="R64273d01f6ae4e96" /><Relationship Type="http://schemas.openxmlformats.org/officeDocument/2006/relationships/tableStyles" Target="/ppt/tableStyles.xml" Id="R8bccc01fbc2d4e6a" /><Relationship Type="http://schemas.openxmlformats.org/officeDocument/2006/relationships/slide" Target="/ppt/slides/slide1.xml" Id="Re7e12acf777c420f" /><Relationship Type="http://schemas.openxmlformats.org/officeDocument/2006/relationships/slide" Target="/ppt/slides/slide2.xml" Id="R27f69ee0bc54470e" /><Relationship Type="http://schemas.openxmlformats.org/officeDocument/2006/relationships/slide" Target="/ppt/slides/slide3.xml" Id="R26566870890f4614" /><Relationship Type="http://schemas.openxmlformats.org/officeDocument/2006/relationships/slide" Target="/ppt/slides/slide4.xml" Id="R10dab3983f1a4a9c" /><Relationship Type="http://schemas.openxmlformats.org/officeDocument/2006/relationships/slide" Target="/ppt/slides/slide5.xml" Id="R97b2ceb52d1c4351" /><Relationship Type="http://schemas.openxmlformats.org/officeDocument/2006/relationships/slide" Target="/ppt/slides/slide6.xml" Id="R0c7b47c7258c4d0f" /><Relationship Type="http://schemas.openxmlformats.org/officeDocument/2006/relationships/slide" Target="/ppt/slides/slide7.xml" Id="R41a0b72f958a4614" /><Relationship Type="http://schemas.openxmlformats.org/officeDocument/2006/relationships/slide" Target="/ppt/slides/slide8.xml" Id="R7986a48677d94d5c" /><Relationship Type="http://schemas.openxmlformats.org/officeDocument/2006/relationships/slide" Target="/ppt/slides/slide9.xml" Id="R19d7a11087104917" /><Relationship Type="http://schemas.openxmlformats.org/officeDocument/2006/relationships/slide" Target="/ppt/slides/slide10.xml" Id="Rf8fd63e43d614cbd" /><Relationship Type="http://schemas.openxmlformats.org/officeDocument/2006/relationships/slide" Target="/ppt/slides/slide11.xml" Id="R9c379246e6414397" /><Relationship Type="http://schemas.openxmlformats.org/officeDocument/2006/relationships/slide" Target="/ppt/slides/slide12.xml" Id="R4c19a5c943604450" /><Relationship Type="http://schemas.openxmlformats.org/officeDocument/2006/relationships/slide" Target="/ppt/slides/slide13.xml" Id="Rfa6fb23a5c404067" /><Relationship Type="http://schemas.openxmlformats.org/officeDocument/2006/relationships/slide" Target="/ppt/slides/slide14.xml" Id="R489be14123fe48fd" /><Relationship Type="http://schemas.openxmlformats.org/officeDocument/2006/relationships/slide" Target="/ppt/slides/slide15.xml" Id="R269af4d2ccc749a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f4c551ac9d44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c7ddca2ec0452e" /><Relationship Type="http://schemas.openxmlformats.org/officeDocument/2006/relationships/notesMaster" Target="/ppt/notesMasters/notesMaster1.xml" Id="R073634f815994cd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9e14b1fd784bcc" /><Relationship Type="http://schemas.openxmlformats.org/officeDocument/2006/relationships/notesMaster" Target="/ppt/notesMasters/notesMaster1.xml" Id="Rb4d713ab34db47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660547cf35455c" /><Relationship Type="http://schemas.openxmlformats.org/officeDocument/2006/relationships/notesMaster" Target="/ppt/notesMasters/notesMaster1.xml" Id="Rfb720cf2d05c47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ca8fbb32c74ea1" /><Relationship Type="http://schemas.openxmlformats.org/officeDocument/2006/relationships/notesMaster" Target="/ppt/notesMasters/notesMaster1.xml" Id="R98088d347d7e4a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1484c32387d4f7f" /><Relationship Type="http://schemas.openxmlformats.org/officeDocument/2006/relationships/notesMaster" Target="/ppt/notesMasters/notesMaster1.xml" Id="R706a9949760c43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d7bd854026c448e" /><Relationship Type="http://schemas.openxmlformats.org/officeDocument/2006/relationships/notesMaster" Target="/ppt/notesMasters/notesMaster1.xml" Id="Rdd7f6001445143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7e260a1669741e1" /><Relationship Type="http://schemas.openxmlformats.org/officeDocument/2006/relationships/notesMaster" Target="/ppt/notesMasters/notesMaster1.xml" Id="R3734d00843344b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620ece519954264" /><Relationship Type="http://schemas.openxmlformats.org/officeDocument/2006/relationships/notesMaster" Target="/ppt/notesMasters/notesMaster1.xml" Id="R4ffb165d8fb540e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133cdbbf3442fd" /><Relationship Type="http://schemas.openxmlformats.org/officeDocument/2006/relationships/notesMaster" Target="/ppt/notesMasters/notesMaster1.xml" Id="R21d1837ce02d43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3e3f730a4c4335" /><Relationship Type="http://schemas.openxmlformats.org/officeDocument/2006/relationships/notesMaster" Target="/ppt/notesMasters/notesMaster1.xml" Id="R47f9a5f983ce459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28843e283e4bf2" /><Relationship Type="http://schemas.openxmlformats.org/officeDocument/2006/relationships/notesMaster" Target="/ppt/notesMasters/notesMaster1.xml" Id="R9cc8340b789d46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f84ea427394161" /><Relationship Type="http://schemas.openxmlformats.org/officeDocument/2006/relationships/notesMaster" Target="/ppt/notesMasters/notesMaster1.xml" Id="R86d651e1859743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8431a4ef6d34c40" /><Relationship Type="http://schemas.openxmlformats.org/officeDocument/2006/relationships/notesMaster" Target="/ppt/notesMasters/notesMaster1.xml" Id="R5c4a1d9e7e304df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20b5e0169e48e8" /><Relationship Type="http://schemas.openxmlformats.org/officeDocument/2006/relationships/notesMaster" Target="/ppt/notesMasters/notesMaster1.xml" Id="R9d9bf1fd31804d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500ed0544d24d4a" /><Relationship Type="http://schemas.openxmlformats.org/officeDocument/2006/relationships/notesMaster" Target="/ppt/notesMasters/notesMaster1.xml" Id="Rc476c8065c4041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a8e841575e4f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8bb47befe64577" /><Relationship Type="http://schemas.openxmlformats.org/officeDocument/2006/relationships/slideLayout" Target="/ppt/slideLayouts/slideLayout1.xml" Id="R285eaf828dcd4d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5eaf828dcd4d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3da4e390945d9" /><Relationship Type="http://schemas.openxmlformats.org/officeDocument/2006/relationships/image" Target="/ppt/media/image.png" Id="Rc698b4f57b774951" /><Relationship Type="http://schemas.openxmlformats.org/officeDocument/2006/relationships/notesSlide" Target="/ppt/notesSlides/notesSlide1.xml" Id="Ref3d17629d9941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8eeab8f8f473a" /><Relationship Type="http://schemas.openxmlformats.org/officeDocument/2006/relationships/notesSlide" Target="/ppt/notesSlides/notesSlide2.xml" Id="R887d81bc73ff49c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deaf4b6e964603" /><Relationship Type="http://schemas.openxmlformats.org/officeDocument/2006/relationships/notesSlide" Target="/ppt/notesSlides/notesSlide3.xml" Id="R4bb418a708fc41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30ab696573491c" /><Relationship Type="http://schemas.openxmlformats.org/officeDocument/2006/relationships/notesSlide" Target="/ppt/notesSlides/notesSlide4.xml" Id="R98c1c15a223e46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3f50b8b78f44d5" /><Relationship Type="http://schemas.openxmlformats.org/officeDocument/2006/relationships/notesSlide" Target="/ppt/notesSlides/notesSlide5.xml" Id="R3a28056dc46d46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6c53c226344a4" /><Relationship Type="http://schemas.openxmlformats.org/officeDocument/2006/relationships/notesSlide" Target="/ppt/notesSlides/notesSlide6.xml" Id="R60ac476796354e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b25fd7b99546c6" /><Relationship Type="http://schemas.openxmlformats.org/officeDocument/2006/relationships/notesSlide" Target="/ppt/notesSlides/notesSlide7.xml" Id="Rb55d1ad79cf8469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104f27bba4aa6" /><Relationship Type="http://schemas.openxmlformats.org/officeDocument/2006/relationships/notesSlide" Target="/ppt/notesSlides/notesSlide8.xml" Id="R93d299c48ca44f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4c9d3abe2243b1" /><Relationship Type="http://schemas.openxmlformats.org/officeDocument/2006/relationships/notesSlide" Target="/ppt/notesSlides/notesSlide9.xml" Id="Rca1d80154be14e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9c3ab856243aa" /><Relationship Type="http://schemas.openxmlformats.org/officeDocument/2006/relationships/notesSlide" Target="/ppt/notesSlides/notesSlide10.xml" Id="R1ae0c7ae7e71457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e07712381a4a14" /><Relationship Type="http://schemas.openxmlformats.org/officeDocument/2006/relationships/notesSlide" Target="/ppt/notesSlides/notesSlide11.xml" Id="Rd99b54682e8b4d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618128341401c" /><Relationship Type="http://schemas.openxmlformats.org/officeDocument/2006/relationships/notesSlide" Target="/ppt/notesSlides/notesSlide12.xml" Id="Rf062d79eb7b249c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8f3b8544c841c3" /><Relationship Type="http://schemas.openxmlformats.org/officeDocument/2006/relationships/notesSlide" Target="/ppt/notesSlides/notesSlide13.xml" Id="R463170826d39485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b02e78a824c99" /><Relationship Type="http://schemas.openxmlformats.org/officeDocument/2006/relationships/notesSlide" Target="/ppt/notesSlides/notesSlide14.xml" Id="R7eaa5027005044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f842b3c7c4379" /><Relationship Type="http://schemas.openxmlformats.org/officeDocument/2006/relationships/notesSlide" Target="/ppt/notesSlides/notesSlide15.xml" Id="Rf62079345cda4e7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E1FC434C-47B2-4FBC-B58F-D304E57A4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7F70E3FD-A8E0-4F6A-AF4A-1B3DDBD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05864969-A98B-436D-85D8-8B166B9D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"/>
            <a:ext cx="3238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PEER-TO-PEER ACCESS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A73860-958D-4E9E-8A4F-989E7442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571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45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p2p-netcat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28650-4A47-4864-B300-DFB8851A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5715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Netcat addressed by PeerId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315C40-2EA0-4115-B285-91706683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5524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One cryptographic address for terminal, TCP, UDP, and proxy access across NAT.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98b4f57b7749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05600" y="947633"/>
            <a:ext cx="4876800" cy="2562434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D1A554-74A7-4036-8FFA-FDE65BB5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64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D8223D-FA11-45A1-9060-47AD84AE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FD6897-B825-4011-88D2-5777B2C8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IDENTITY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FF8B0-C933-47DF-ACA0-314A4EFA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PeerId instead of 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8D2708-CD34-4F14-B510-CEFB6FAC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333875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BC673D-C5FA-45BD-AAEB-AEAB55D20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F1C8F-12DC-4CA9-AF95-24C81DF8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482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First authenticated route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82025-87AF-4AC1-B8B2-D70CD55D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B36DDF-92ED-4BB9-865E-12998EC6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2435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SESSION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D94886-CA3E-4D44-B192-08652DDB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48200"/>
            <a:ext cx="304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TCP · UDP · PTY · SOCKS</a:t>
            </a:r>
          </a:p>
        </p:txBody>
      </p:sp>
      <p:sp>
        <p:nvSpPr>
          <p:cNvPr id="18" name="footer-1-rule">
            <a:extLst xmlns:a="http://schemas.openxmlformats.org/drawingml/2006/main">
              <a:ext uri="{FF2B5EF4-FFF2-40B4-BE49-F238E27FC236}">
                <a16:creationId xmlns:a16="http://schemas.microsoft.com/office/drawing/2014/main" id="{FCCAE297-BE1B-489C-925E-C901A1BD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5C4097-7EB1-4A92-AA05-BD8FA29F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Source: README.md · github.com/santaklouse/go-p2p-netcat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2D6E82-5BCB-4C1C-A54D-2C89CB83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400722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172D8F9-88A2-4A0A-8977-6EF0E43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A7CAA5B-A9FE-4CB4-810D-E3F7369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2B5C69D-D225-436A-9FD8-F8C6939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A REAL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FB8E4-692F-4F51-ABBC-E857D2E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0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Your home server has no public address — but you still need SSH.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C0EF-12BB-4413-80A3-3C12955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87783"/>
                </a:solidFill>
                <a:latin typeface="Menlo"/>
                <a:ea typeface="Menlo"/>
                <a:cs typeface="Menlo"/>
              </a:rPr>
              <a:t>WITHOUT P2P-NETCAT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CF72-9495-47EE-8A8B-5F5CB49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The network edge is not yours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3D8EE-C6C7-4C5D-AE2E-D5A5C69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9525">
            <a:solidFill>
              <a:srgbClr val="C8C0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BA1B6-F176-45D5-AC48-7FC47954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Laptop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6603A-0B4F-412A-B3FC-6A1CEF6A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7FB5B-9D86-4649-A516-FA2270A8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DDD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B0F8E-50FD-49FD-9917-314FD36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Home router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CGNAT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E23B6-B631-4338-9677-1716A28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45920-69C6-4993-A3E0-CA524B9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Port forwarding is unavailable. Dynamic DNS does not help. A hosted VPN adds another control plane.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286AD-2D59-49A1-BDCE-8D9E198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7EA8E-E45B-40A7-8050-1548E1E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3A2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63A2A"/>
                </a:solidFill>
                <a:latin typeface="Menlo"/>
                <a:ea typeface="Menlo"/>
                <a:cs typeface="Menlo"/>
              </a:rPr>
              <a:t>WITH P2P-NETCAT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7321A-1DB4-4217-9D32-4376E12B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The server keeps one 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55465-ABC5-49A2-8440-664782ED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66BD1-4E46-4136-9851-EF6DDB6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57575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12D3KooW…YXdUfbR9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11C1D-7D42-43D0-AEDF-73979CA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0475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discover · authenticate · connect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E8F81-208A-407C-8FAE-B10C242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F6E89-ADCC-4AEB-8D69-CAC7C3DB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Run a listener at home. From anywhere, dial its PeerId and forward local port 2222 to SSH.</a:t>
            </a:r>
          </a:p>
        </p:txBody>
      </p:sp>
      <p:sp>
        <p:nvSpPr>
          <p:cNvPr id="22" name="footer-2-rule">
            <a:extLst xmlns:a="http://schemas.openxmlformats.org/drawingml/2006/main">
              <a:ext uri="{FF2B5EF4-FFF2-40B4-BE49-F238E27FC236}">
                <a16:creationId xmlns:a16="http://schemas.microsoft.com/office/drawing/2014/main" id="{473466E7-CEA0-4906-A70C-258A5E1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E14C9-6E4F-4420-88A3-F6331CE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Story: home lab or NAS behind CGNAT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9D357-C07E-4A44-84F9-0FAD90F4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83761254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428141B-E583-44D3-97D5-C852860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3E5E97EC-34EC-4447-8FBC-241D8FE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51EA8D2-FB67-42BE-8E17-DA13D01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 REAL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35D17-9D04-4BAD-9363-81CEF0D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A full Internet tunnel should still work when the gateway is behind NAT.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D233F-8CC3-45B9-B608-765BB61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5B86-906B-4B6C-B4D0-7144E62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TRAVEL · LAPTOP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76F4F-0BBA-46DA-9B3A-4EF3C67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C093E-30E9-4D98-8FF9-0D8A892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5275-2B8A-40FC-A72B-3BBAE2B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Endpoint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127.0.0.1:15182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7E6CD-FC85-488E-9A51-2E2E297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3CE9D-916D-4CE3-BAB6-BEDD26D6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5B8E9-C5E4-44CC-ADF2-A36A62C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keeps carrier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outside wg0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D6F9-EF3D-4A8D-A683-ECDFBF8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55FB2-0B9D-44FF-8DB0-F600EB97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BC3FC-B63A-401E-97C1-73933686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policy route protects the carrier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4F8B1-9FCF-4C34-BCF1-D05D6F2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3086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8CC24-EFC1-4F88-B0C2-AF9CF89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3842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UNTRUSTED NETWORK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370CC-122F-4B8B-A32A-F0261031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hotel · airport · mobile hotspot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no inbound port 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F5B36-F9CA-48BE-9BBC-C82A2D16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E91CA-B8D8-44F4-B1F4-014E1928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C4987-994E-4ED9-815F-83BEE37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846CC-82E6-4BF8-AAC3-A0B47896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HOME ·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99F80-00DD-442E-BB13-6A18FEBA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15207-6785-4503-9403-186D0F7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B7A65-67B3-4FE8-8021-8C35F1A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UDP listener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→ UDP :51820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A37A5-231C-4C8B-AA2A-32AD54C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23A71-366A-4B34-9FC9-E1E7EABF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34FA9-718D-43CE-8AE0-8B1224C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home gateway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10.66.66.1/24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6224C8-EE8E-4A3D-87D8-578F400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2D2E6-87B2-4BF4-A2DA-7EDC773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C7463-4C24-4417-83DE-B00753A5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FORWARD + MASQUERADE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28EA47-407B-424F-959D-1C6055E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87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F3E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FAD6C-7687-4F6A-B2D0-9B7F3EDD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ONE ROUTE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0EFBC-647C-4283-9B06-A135C0E8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625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bring up carrier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2B9C6-99A0-4309-8CEC-A067C1D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10CDF-30B6-47B1-AFD5-933CD5F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6252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wg-quick up wg0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A503F-BE13-4137-9F2D-31AEF41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7C01D5-5F25-4E16-98B9-C6B32293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62525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public IP = home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4DC57-41CF-4705-A574-EA45F94A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The P2P carrier reaches the home peer first; WireGuard then routes all Internet traffic through it.</a:t>
            </a:r>
          </a:p>
        </p:txBody>
      </p:sp>
      <p:sp>
        <p:nvSpPr>
          <p:cNvPr id="40" name="footer-7-rule">
            <a:extLst xmlns:a="http://schemas.openxmlformats.org/drawingml/2006/main">
              <a:ext uri="{FF2B5EF4-FFF2-40B4-BE49-F238E27FC236}">
                <a16:creationId xmlns:a16="http://schemas.microsoft.com/office/drawing/2014/main" id="{8E8E828A-56CF-41E2-81D9-1D5C3964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08584-A00F-4D28-A660-9E8C328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Story: private browsing through a home gateway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6A46DC-8814-4E44-9C8C-2E11675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6940702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7A140BB-4352-4962-A1FE-99A230C0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3B647CE-FAC5-42FC-AAF6-6B8762E9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89088D3D-F6B9-4421-AE52-86B8C61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WHY IT EXISTS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39B80-CBB2-4CFC-9EFC-9A44D5D9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The same need keeps repeating: reach a private service without owning its network edge.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B6A54-F4BF-47EF-9E10-BF9BBBF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52CBE-9F9C-4526-BEAD-863E90A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66CF3-D647-4143-931D-B8D5A10A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76482-9F93-4021-86AE-49338575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Home lab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867A-38BB-4A09-B99E-ADD75F02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SSH · NAS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6CAB8-E37C-44BB-880F-9117FBA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D91B-5686-4E4C-BA31-5B33A53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39606-76C2-4D14-B081-76320507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4E2B1-AC9A-4D42-90A3-735C970C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B3329-99FB-489A-BCA9-85149BA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Family support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3CD08-E304-47A4-A789-E6B38F8F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RDP · web 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E21F7-22E5-4F33-A5E7-A170FED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C324-0756-48B3-8E52-70C050C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B16F5-45A5-4066-8D01-2A89F847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C4943-F015-4360-90E0-D93BE3E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55576-CFAF-4149-9CAC-C6F668C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Remote work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89089-D362-4703-A74A-BE4B2281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PostgreSQL · dev API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BF6CA-56DA-4A3F-BB68-014905C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A5961-9101-47BB-90A2-E51E4BB4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6B697-983C-44B7-92A5-8A9320E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AE066-34E0-43FA-8FAC-B0073F4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5467C-E5B7-4E70-8B17-6AFDF39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Private browsing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7D356-594F-458F-9583-1D9B637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SOCKS5h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DA048A-7F55-4B7A-BB31-92DC0CBB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2E9C5-7368-456A-8069-146D28A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SOCKS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F9847-63F2-4967-BFDD-932381B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75531-691D-475C-BF02-D7F64AFA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5664B-5367-4F20-AB87-EE53D6C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Legacy VPN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9A5F0-7B17-41A8-9B4C-CE31156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OpenVPN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EBB57-9D0A-4895-90B1-DAA6305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5C8509-BACD-44BF-8290-C1AB824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STREAM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3097E-A791-488F-9AA8-DB60E050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D29070-D095-495F-8A2C-2F2F827B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19988-C0AA-4540-B18D-8FE8A97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Full tunnel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181875-261D-4190-B8F3-FD4CA8B6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WireGuard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C49194-D167-40E0-B162-27351D89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1E756E-5326-4A22-B210-650E460F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UDP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CC92F-0D22-4EC7-B259-F44DF09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484D1B-B0F8-40D0-AED0-ECD5981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051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One stable PeerId replaces per-network IP addresses, port mappings, and temporary VPN control planes.</a:t>
            </a:r>
          </a:p>
        </p:txBody>
      </p:sp>
      <p:sp>
        <p:nvSpPr>
          <p:cNvPr id="44" name="footer-8-rule">
            <a:extLst xmlns:a="http://schemas.openxmlformats.org/drawingml/2006/main">
              <a:ext uri="{FF2B5EF4-FFF2-40B4-BE49-F238E27FC236}">
                <a16:creationId xmlns:a16="http://schemas.microsoft.com/office/drawing/2014/main" id="{4AE08FA0-2084-4B73-83D3-E4FA306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E516D1-F2B2-46F1-924D-87AFF83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Product motivation: recurring access across NAT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C9FD00-6EFE-417E-B9B7-A136A6F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47604112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172D8F9-88A2-4A0A-8977-6EF0E430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0A7CAA5B-A9FE-4CB4-810D-E3F7369A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D2B5C69D-D225-436A-9FD8-F8C6939E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ROUTING 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FB8E4-692F-4F51-ABBC-E857D2E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001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PeerId solves identity. The route still has to be found.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AC0EF-12BB-4413-80A3-3C129554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4191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687783"/>
                </a:solidFill>
                <a:latin typeface="Menlo"/>
                <a:ea typeface="Menlo"/>
                <a:cs typeface="Menlo"/>
              </a:rPr>
              <a:t>CLASSIC FORWARDING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FCF72-9495-47EE-8A8B-5F5CB49B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The IP changes — access breaks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C3D8EE-C6C7-4C5D-AE2E-D5A5C69B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9525">
            <a:solidFill>
              <a:srgbClr val="C8C0B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BA1B6-F176-45D5-AC48-7FC479548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192.0.2.10:22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6603A-0B4F-412A-B3FC-6A1CEF6A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433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7FB5B-9D86-4649-A516-FA2270A8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1809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5DDDA"/>
          </a:solidFill>
          <a:ln xmlns:a="http://schemas.openxmlformats.org/drawingml/2006/main" w="9525">
            <a:solidFill>
              <a:srgbClr val="FF6B6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3B0F8E-50FD-49FD-9917-314FD36A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623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F6B6B"/>
                </a:solidFill>
                <a:latin typeface="Avenir Next"/>
                <a:ea typeface="Avenir Next"/>
                <a:cs typeface="Avenir Next"/>
              </a:rPr>
              <a:t>NAT / CGNAT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3E23B6-B631-4338-9677-1716A282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152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245920-69C6-4993-A3E0-CA524B9C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DNS, port forwarding, a VPN concentrator, or manually operated infrastructure.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286AD-2D59-49A1-BDCE-8D9E198C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57EA8E-E45B-40A7-8050-1548E1EB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476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163A2A"/>
                </a:solidFill>
                <a:latin typeface="Menlo"/>
                <a:ea typeface="Menlo"/>
                <a:cs typeface="Menlo"/>
              </a:defRPr>
            </a:pPr>
            <a:r>
              <a:rPr sz="900" b="1">
                <a:solidFill>
                  <a:srgbClr val="163A2A"/>
                </a:solidFill>
                <a:latin typeface="Menlo"/>
                <a:ea typeface="Menlo"/>
                <a:cs typeface="Menlo"/>
              </a:rPr>
              <a:t>P2P-NETCAT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7321A-1DB4-4217-9D32-4376E12B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95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Identity stays stable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055465-ABC5-49A2-8440-664782ED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95650"/>
            <a:ext cx="4762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E66BD1-4E46-4136-9851-EF6DDB66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57575"/>
            <a:ext cx="4305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12D3KooW…YXdUfbR9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511C1D-7D42-43D0-AEDF-73979CA6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00475"/>
            <a:ext cx="430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mDNS · DHT · signaling · relay hints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E8F81-208A-407C-8FAE-B10C2423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767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7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F6E89-ADCC-4AEB-8D69-CAC7C3DB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762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PeerId selects the right peer; discovery and route racing select a reachable path.</a:t>
            </a:r>
          </a:p>
        </p:txBody>
      </p:sp>
      <p:sp>
        <p:nvSpPr>
          <p:cNvPr id="22" name="footer-2-rule">
            <a:extLst xmlns:a="http://schemas.openxmlformats.org/drawingml/2006/main">
              <a:ext uri="{FF2B5EF4-FFF2-40B4-BE49-F238E27FC236}">
                <a16:creationId xmlns:a16="http://schemas.microsoft.com/office/drawing/2014/main" id="{473466E7-CEA0-4906-A70C-258A5E10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8E14C9-6E4F-4420-88A3-F6331CE1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Source: docs/ARCHITECTURE.md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79D357-C07E-4A44-84F9-0FAD90F4B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8376125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66869F7A-B740-4E02-B252-F706698F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E9EC75AC-7167-4EA2-A4E6-9C688EB44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D0C036D4-717A-450F-910B-CF011929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C9270-B4E7-491D-A6AC-7EAD4346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The first route to complete authentication wins.</a:t>
            </a:r>
          </a:p>
        </p:txBody>
      </p:sp>
      <p:sp>
        <p:nvSpPr>
          <p:cNvPr id="5" name="client-node">
            <a:extLst xmlns:a="http://schemas.openxmlformats.org/drawingml/2006/main">
              <a:ext uri="{FF2B5EF4-FFF2-40B4-BE49-F238E27FC236}">
                <a16:creationId xmlns:a16="http://schemas.microsoft.com/office/drawing/2014/main" id="{B3245BF1-F369-458E-8EF1-AC7F166FC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1714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3D9CA-D539-4489-8F83-FD676932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19325"/>
            <a:ext cx="140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3ED279-596B-467E-A402-D658A751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1409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CLI or browser PWA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PeerId + logical port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A936F2-5F94-4539-B426-842E9EAE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828800"/>
            <a:ext cx="213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DISCOVERY / SIGNALING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ECD28-8F21-44BF-886B-F64C9E06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9550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B2ED4C-0BE9-45C0-A059-9021019B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193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PUBLIC ROUTING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6C55AF-C537-4767-8B2C-1C2241B3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50507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mDNS · GossipSub · DHT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E259A5-2C6B-4C2B-A462-46E77ADB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90850"/>
            <a:ext cx="20002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EF3062-613E-4D6C-B91F-0664EAE5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1467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NATIVE SIGNALING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80E673-4B98-4453-BB3E-E6D83297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00425"/>
            <a:ext cx="1695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Nostr + WebTorrent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DB8A63-A87D-47AB-8352-AEF9A4C7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63842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2E0D0-66D2-4F84-A8DB-6D0EAB96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43275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ADB939-F81F-4542-9CD2-02CB01A6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28800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PARALLEL ROUTE RACE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7F7AA6-B226-4F87-B807-554A58FF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095500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379CB2-5244-4218-B879-69AE5353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193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LIBP2P PLANE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F6D139-264C-493B-B7D8-16FED434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0507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QUIC · WebRTC Direct · WSS · TCP · Relay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1FFFA-2526-4273-967D-4EBAB19A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990850"/>
            <a:ext cx="2343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8CC98B-ECE5-4760-A302-1A094F99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146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PION WEBRTC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A0869-63E0-4893-B972-C5AC14FB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203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ICE/STUN · ordered DataChannel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ED5D8-7F0E-4F46-95CE-FCFC095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4792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5D8AFC-EFAF-4846-9D8E-EB8F8F34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43275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733F9D-D6AF-4C9F-9CDC-477FA7EA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71725"/>
            <a:ext cx="1619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5D8B0A-243F-4B76-85BA-5DC701F2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1314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AUTH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9FB885-98D1-4534-98E2-C888BEF7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131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Expected PeerId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admission handshake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5A95988-4086-435B-9311-B2E281C5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F4F7DB-38B4-424D-A9FF-AE054C431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6C8DF63-B468-43DF-939F-370B5406D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095500"/>
            <a:ext cx="1447800" cy="16192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677105-B67B-499C-8C47-3571396E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19325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LISTENER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8434E7-2A13-4021-8AB9-73F9A6B29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505075"/>
            <a:ext cx="114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Persistent Ed25519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logical service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1…65535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10B68D-721C-4960-85B1-A06C417C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95600"/>
            <a:ext cx="495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215EED-6D23-458A-9F36-B086763B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267200"/>
            <a:ext cx="8858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2C3A4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9D8952-DE67-4ADC-B0C4-3FFAAC43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57700"/>
            <a:ext cx="2190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SESSION AFTER AUTH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81D1961-1868-4886-99B0-6DD3A506D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212B"/>
          </a:solidFill>
          <a:ln xmlns:a="http://schemas.openxmlformats.org/drawingml/2006/main" w="9525">
            <a:solidFill>
              <a:srgbClr val="34434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77AEFA6-7E05-43E9-B57F-454EE24E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raw / exec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C925AF-649C-46E1-89EC-A1A9A0E7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212B"/>
          </a:solidFill>
          <a:ln xmlns:a="http://schemas.openxmlformats.org/drawingml/2006/main" w="9525">
            <a:solidFill>
              <a:srgbClr val="34434F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4A7135-3A4E-4575-987F-25879B10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TCP forward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F4D311-186B-4DE6-B2AA-54F31D31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953D3-2079-4D91-9643-4AC2FEA7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UDP frames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480749-954B-4D82-B98D-F059D158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212B"/>
          </a:solidFill>
          <a:ln xmlns:a="http://schemas.openxmlformats.org/drawingml/2006/main" w="9525">
            <a:solidFill>
              <a:srgbClr val="34434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CF308B-9EDB-4BF6-8B4D-93D0F06C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SOCKS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A832BA-204C-416D-B676-0914D72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857750"/>
            <a:ext cx="1428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5212B"/>
          </a:solidFill>
          <a:ln xmlns:a="http://schemas.openxmlformats.org/drawingml/2006/main" w="9525">
            <a:solidFill>
              <a:srgbClr val="34434F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E28521-0228-4B4E-AD39-4DA2ADF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9149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PTY / ConPTY</a:t>
            </a:r>
          </a:p>
        </p:txBody>
      </p:sp>
      <p:sp>
        <p:nvSpPr>
          <p:cNvPr id="47" name="footer-3-rule">
            <a:extLst xmlns:a="http://schemas.openxmlformats.org/drawingml/2006/main">
              <a:ext uri="{FF2B5EF4-FFF2-40B4-BE49-F238E27FC236}">
                <a16:creationId xmlns:a16="http://schemas.microsoft.com/office/drawing/2014/main" id="{FF191055-3933-4465-9570-8FA283CC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15AC8E-FE05-4E5B-9B9A-39436734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Sources: docs/ARCHITECTURE.md · docs/WEBRTC_MIGRATION.md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4C46F4B-34C1-40AE-9090-15025BB7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6951313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5ABA751-117C-441D-BE2B-52153737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CCE9CD19-2F35-4C04-A45F-88E91775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B73AED8F-5CF2-49B1-BCB0-FDC2A787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MODES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8C01D-F342-4E31-B69D-066A3999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One CLI covers terminals, streams, datagrams, and proxies.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84FEB6-4C8F-460E-B437-E4A89E26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MODE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A43F1-0433-441B-AD70-55920D49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812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LOCAL INTERFACE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B0A9F-6442-4158-A557-F230C4A4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981200"/>
            <a:ext cx="2524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REMOTE ACTION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E5E83-224C-4EE7-A4F1-6F4AE1D24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WHAT IS PRESERVED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D961DB-B25C-4F77-A7DF-F4237988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8120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FLAG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EF5B1-5BCF-4805-8FFA-809BBC8C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D5E1D-1258-4512-961C-0E1E36A2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RAW / EXEC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409A7D-7DA3-49FF-9578-B2958E8F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384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stdin/stdout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85A998-EFB3-462B-A142-65924DFA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3840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stream or command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C0FCF2-07DE-498E-B7B3-5456A6AF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3840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byte stream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1BF36-C3A3-4C14-8804-2481E314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384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AD0FFC-6E01-4E07-84A3-F35ABE386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E63F4-CFB3-44AC-9A6B-A15397DB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TCP FWD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2D0C09-DD76-488D-A98B-B8B90DB9F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289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127.0.0.1:PORT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7F8F70-17D5-44E2-B52A-186B4FF0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289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dial TCP target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117891-606F-4BDE-9BBE-7EBADC9A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2895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connection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047A1C-5336-48B4-8C50-654060745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289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491FCC-DF37-4D55-9E63-B5CFA0F8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CF611C-410B-49F7-91AC-F3CB5601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11252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E93AAA-463A-4C82-9C8E-3E08B79B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UDP FWD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3FA7F-ECE7-4783-B66C-687466222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195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127.0.0.1:PORT/udp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DB1D58-A68C-4E8F-9771-933985CB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1950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connected UDP socket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011959E-7368-4E86-8A4B-24A5C8DC3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1950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packet boundaries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07D45B-D5D3-42D3-A07A-46AEAC2C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6195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-u -p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525BC09-299C-4258-80D0-08CAEAB1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4DCC81-5F1B-4773-B909-4ABAA3C7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SOCKS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E7C66D-5EAA-4092-8CC5-7438056C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SOCKS4/4a/5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596504-6770-4BCE-A53E-A24A74F9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100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CONNECT remotely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DB9BD0-2F6F-4BB5-8694-FED968A8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005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remote DNS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C56898-D073-401B-8012-EF9C135F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2100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077C15-8C9F-4F42-BFF3-A53BCF3D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386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34D4F3-25E3-4D13-966A-1721D800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PTY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4D7109-C102-405C-8675-FFE6BF1B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0060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interactive TTY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397879-DBE0-45D7-A144-71073B7C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0060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Unix PTY / ConPTY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812EFA-96DF-4A39-8A57-4166C674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0060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resize + EOF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2413E3A-86F9-482F-B577-901015CC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8006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06EB9F-1919-4368-82BB-9B0503C7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292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F643D1-DD36-42F8-B9E2-899993758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LISTENER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B74546-7355-40CB-BED3-EEF1C830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91150"/>
            <a:ext cx="2743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logical port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8183C0-EF79-4268-B0BD-A29B8D7D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91150"/>
            <a:ext cx="2409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multiple sessions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618014-10FF-4FC2-920C-A2BA48CC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391150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identity + policy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FD02B2C-AA70-4073-858A-2342A14D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39115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101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-l -k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BDEA3CD-16D7-45F1-A2FD-DC567A38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630235-F5F6-40A1-8FF9-844714E8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55C2FF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55C2FF"/>
                </a:solidFill>
                <a:latin typeface="Avenir Next"/>
                <a:ea typeface="Avenir Next"/>
                <a:cs typeface="Avenir Next"/>
              </a:rPr>
              <a:t>Wire protocol compatibility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A267E0-74EC-427D-880F-4D21A94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067425"/>
            <a:ext cx="7048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/p2p-netcat/1.0.0/&lt;port&gt;  ·  /p2p-netcat/udp/1.0.0/&lt;port&gt;</a:t>
            </a:r>
          </a:p>
        </p:txBody>
      </p:sp>
      <p:sp>
        <p:nvSpPr>
          <p:cNvPr id="50" name="footer-4-rule">
            <a:extLst xmlns:a="http://schemas.openxmlformats.org/drawingml/2006/main">
              <a:ext uri="{FF2B5EF4-FFF2-40B4-BE49-F238E27FC236}">
                <a16:creationId xmlns:a16="http://schemas.microsoft.com/office/drawing/2014/main" id="{8FB0D6FF-295D-44AB-8BE4-210CCDAB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37E6FA-0B64-4BFA-A317-F78D96DB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Sources: README.md · docs/USE_CASES.md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A5EE39-154B-421B-9A86-096C46193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102166318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8C5BC9C-68FE-4218-BF21-46962E3D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A7BEAFF7-5A56-4B15-A401-FE08A94F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44A821AB-1171-4642-8DF0-4DC7A223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TRUST BEFORE DATA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419D5-C3E0-40E5-B77A-BA1088CE0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000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Application bytes flow only after the expected PeerId is proven.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79494-C21F-487D-A513-0433FAB0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8096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C7B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8F23B-0B82-45D0-ADE8-A99924F6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4F1D93-33F2-440B-B84D-8E5086F9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009D4-9A39-4EFC-A001-B71516A3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Offer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5D2960-B33B-4A67-88E5-CE236DD4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Client creates SDP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BE7D48-52C2-4349-9EFF-8179EA11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CE837C-A3A2-4C08-AF7A-503C58ED1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FBD22-F969-4B05-81CC-CAFAAC0F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DataChannel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F7D8E2-5437-4FE4-B693-702F6E67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p2p-netcat-v2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8C8319-5669-4610-99C9-FE3FCC8C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D1777-5911-4D53-9E03-83427B40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D051E-D9CB-42DD-B9A2-C27A16D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Challenge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0F29D-2F1D-4011-A086-82BE2E61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32 random bytes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02E29-5237-429F-8DFC-E072CB879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A8096F-4A56-46DA-BDC5-24D12EEE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6FEA94-6E2A-46D7-9C8E-7B610829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Signature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BCB6F-D71F-4B8F-B291-964FE415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Ed25519 + service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70DB88-4B4F-442A-9E5D-A9F59FB7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8C88B7-A958-4A6C-A9A9-1150AB83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FC99D-047D-40A0-A57A-FE598EA2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PeerId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19D1EA-6F1E-482E-8A27-422294B0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Exact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064B7-CA84-4103-8811-419A516E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384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87BA09-2F96-4BC6-B562-AF5C4366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67000"/>
            <a:ext cx="3619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1050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061F13-9CF5-457E-874E-FD2C77D3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0040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AUTH_READY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64E2E8-0F9A-4DF3-91FA-560E245AA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05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Session allowed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F5ED19-BA78-4A32-9C13-18F37748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581150" cy="3162300"/>
          </a:xfrm>
          <a:prstGeom xmlns:a="http://schemas.openxmlformats.org/drawingml/2006/main" prst="roundRect">
            <a:avLst>
              <a:gd name="adj" fmla="val 4819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636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F321A1-BEF9-4CBD-BFE9-3F45E9702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5742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AFTER AUTH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2341C4-8062-4728-B9DA-786C23DA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47950"/>
            <a:ext cx="12001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256</a:t>
            </a:r>
          </a:p>
          <a:p xmlns:a="http://schemas.openxmlformats.org/drawingml/2006/main">
            <a:pPr algn="l">
              <a:buNone/>
              <a:defRPr sz="24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KiB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151FBE-3D04-4F40-A2AF-2E009D7B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5052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end-to-end flow window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728F63-BBB7-4263-BE15-1510E4D5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962400"/>
            <a:ext cx="12001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1542F3-F3D3-47CA-A927-99875ADD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13385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120 sec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109FD6-AD21-48DC-8BB4-E1CD44B13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543425"/>
            <a:ext cx="120015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82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reconnect on the same logical stream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79685B-2F20-4A13-BF56-6812F01E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84010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5DFD4"/>
          </a:solidFill>
          <a:ln xmlns:a="http://schemas.openxmlformats.org/drawingml/2006/main" w="9525">
            <a:solidFill>
              <a:srgbClr val="CFC7B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D63EAF-68E3-49B6-8E69-C8163F27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7943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An unverified WebRTC candidate cannot start the listener's PTY or application stream.</a:t>
            </a:r>
          </a:p>
        </p:txBody>
      </p:sp>
      <p:sp>
        <p:nvSpPr>
          <p:cNvPr id="39" name="footer-5-rule">
            <a:extLst xmlns:a="http://schemas.openxmlformats.org/drawingml/2006/main">
              <a:ext uri="{FF2B5EF4-FFF2-40B4-BE49-F238E27FC236}">
                <a16:creationId xmlns:a16="http://schemas.microsoft.com/office/drawing/2014/main" id="{1C8B25C8-5C72-4F9E-BB6C-F1B3AE664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E51F59-BBB1-46C1-B012-D6B31867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Source: docs/WEBRTC_MIGRATION.md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217B57-FDFD-4D45-A031-3371A8C01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12896271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CEC4C66-50BF-42C6-B41A-AD1CC7F2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6-marker">
            <a:extLst xmlns:a="http://schemas.openxmlformats.org/drawingml/2006/main">
              <a:ext uri="{FF2B5EF4-FFF2-40B4-BE49-F238E27FC236}">
                <a16:creationId xmlns:a16="http://schemas.microsoft.com/office/drawing/2014/main" id="{12ADF796-C03C-4871-8EFF-367061A4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6-label">
            <a:extLst xmlns:a="http://schemas.openxmlformats.org/drawingml/2006/main">
              <a:ext uri="{FF2B5EF4-FFF2-40B4-BE49-F238E27FC236}">
                <a16:creationId xmlns:a16="http://schemas.microsoft.com/office/drawing/2014/main" id="{28B39493-F5CB-4731-B9F8-D73F016D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UDP OVER STREAM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1E018-C623-44DF-8CDF-1D7A78E4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UDP packet boundaries survive even over TCP/WSS/relay.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D5996B-7F7F-4788-BA19-42B6C192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DATAGRAM ASSOCIATION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0A0F37-CA9D-4A3D-A778-E95DA7E6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8478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7C547-9297-40B8-B1B9-D1475F2D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543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LOCAL SOURCE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F4EB0-09FA-47B2-8672-7FFEC3F5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33675"/>
            <a:ext cx="1543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127.0.0.1:15182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association per endpoint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96562-BB17-435C-89B1-C14F9BB5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908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B1D12-6622-4500-93D5-6C7D7ACFA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27051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037F0D-E39E-4877-83AF-027C9374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4574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1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00 84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BD1F03-6E3E-43DE-BC93-70D23D9A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57450"/>
            <a:ext cx="1638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uint16 BE length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FE70A2-B8A1-4B63-96AB-4BA348D5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71775"/>
            <a:ext cx="232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C48A0-05D4-4052-9368-0711DB80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14650"/>
            <a:ext cx="2324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exact UDP payload bytes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7A5AD-5C6A-43D9-928C-7CFA663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908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F41672-FB32-4E51-84A3-B034A270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2000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257F14-F55C-4B78-A4E8-A70A8E78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47925"/>
            <a:ext cx="1695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 STREAM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78C533-16BE-4DCE-973B-D779F5CE3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33675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authenticated + encrypted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ordered reliable carrier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577472-3FA4-4090-9E09-07223680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908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A00C5-3DD6-40D9-90A0-F09F6187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7241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CE898B-02F1-4E4D-A4B6-0D5CD4E9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47925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FIXED UDP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D52388-0E2C-4A69-8354-7456A8A0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33675"/>
            <a:ext cx="2419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WireGuard · DNS · game service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exact reply to original source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F5B2A5-128B-481A-9FD2-C370758D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FALLBACK LADDER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E714B6-CE41-412C-AFE3-DF601DCE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2B4C7D-B67B-43F3-87A1-26664A6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Native WebRTC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C615CD-DCAC-4E07-9A43-0EBD9720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5772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ICE/STUN direct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0258BC-E8EB-48A0-9754-B9294EA3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6720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1E965B-F62F-4E45-AF72-38DD4135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43865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QUIC / WebRTC Direct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B61E0E-BA1D-43CA-B17D-E848E8E8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5297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direct UDP path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A83A2-36D9-452B-9467-9EF5D368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3624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204CF-2559-49FD-B3CE-E948D1C0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53390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TCP / WSS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21B601-1683-40BF-A6A0-1804C287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84822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55C2FF"/>
                </a:solidFill>
                <a:latin typeface="Menlo"/>
                <a:ea typeface="Menlo"/>
                <a:cs typeface="Menlo"/>
              </a:rPr>
              <a:t>UDP-over-stream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31E296-9F7D-4D4F-AA0B-20DC99461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5770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46097B-FD1D-42C4-B129-3E621CA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62915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Circuit Relay v2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5BC6F0-0843-4E93-A4ED-FA2353A0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4347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B454"/>
                </a:solidFill>
                <a:latin typeface="Menlo"/>
                <a:ea typeface="Menlo"/>
                <a:cs typeface="Menlo"/>
              </a:rPr>
              <a:t>fallback path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BEEEDC-798C-443A-B0CB-ACADF89C9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552950"/>
            <a:ext cx="1952625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9F2BC6-4FA1-4FAB-A171-93819B10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24400"/>
            <a:ext cx="16478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Tor + TCP relay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AD753E3-E93E-4FAB-BA90-2D776430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038725"/>
            <a:ext cx="16478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00" b="0">
                <a:solidFill>
                  <a:srgbClr val="FFB454"/>
                </a:solidFill>
                <a:latin typeface="Menlo"/>
                <a:ea typeface="Menlo"/>
                <a:cs typeface="Menlo"/>
              </a:rPr>
              <a:t>restricted networks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F8C9D7C-CE5A-4926-B6C6-5BD6E2F1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Fallback cost: ordered delivery can introduce head-of-line blocking.</a:t>
            </a:r>
          </a:p>
        </p:txBody>
      </p:sp>
      <p:sp>
        <p:nvSpPr>
          <p:cNvPr id="40" name="footer-6-rule">
            <a:extLst xmlns:a="http://schemas.openxmlformats.org/drawingml/2006/main">
              <a:ext uri="{FF2B5EF4-FFF2-40B4-BE49-F238E27FC236}">
                <a16:creationId xmlns:a16="http://schemas.microsoft.com/office/drawing/2014/main" id="{ED90D304-8A92-4C50-B0C9-62F703B0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45C388-3462-48CB-89E7-F6D6A47B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Source: docs/DATAGRAM_PROTOCOL.md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B312D2A-28ED-4A01-A899-80A51D8C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71061624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428141B-E583-44D3-97D5-C852860F9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3E5E97EC-34EC-4447-8FBC-241D8FE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C51EA8D2-FB67-42BE-8E17-DA13D019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WIREGUARD FULL TUNNEL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35D17-9D04-4BAD-9363-81CEF0DA7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8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The carrier stays outside the default route, so the tunnel cannot consume itself.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D233F-8CC3-45B9-B608-765BB61A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C5B86-906B-4B6C-B4D0-7144E62A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NAT A · CLIENT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76F4F-0BBA-46DA-9B3A-4EF3C6774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C093E-30E9-4D98-8FF9-0D8A89251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405275-2B8A-40FC-A72B-3BBAE2BA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Endpoint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127.0.0.1:15182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57E6CD-FC85-488E-9A51-2E2E2973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73CE9D-916D-4CE3-BAB6-BEDD26D6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B5B8E9-C5E4-44CC-ADF2-A36A62C25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UDP carrier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special UID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4D6F9-EF3D-4A8D-A683-ECDFBF8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155FB2-0B9D-44FF-8DB0-F600EB97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EBC3FC-B63A-401E-97C1-739336866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ip rule uidrange → lookup main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D4F8B1-9FCF-4C34-BCF1-D05D6F21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14600"/>
            <a:ext cx="30861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C8CC24-EFC1-4F88-B0C2-AF9CF89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38425"/>
            <a:ext cx="27813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PUBLIC INTERNET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370CC-122F-4B8B-A32A-F0261031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24175"/>
            <a:ext cx="27813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Nostr/WebTorrent signaling + STUN/ICE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application packets travel over selected P2P carrier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7F5B36-F9CA-48BE-9BBC-C82A2D16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5E91CA-B8D8-44F4-B1F4-014E1928A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05150"/>
            <a:ext cx="742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9C4987-994E-4ED9-815F-83BEE3745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00250"/>
            <a:ext cx="32575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01B24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C846CC-82E6-4BF8-AAC3-A0B47896E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NAT B · GATEWAY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C99F80-00DD-442E-BB13-6A18FEBA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33650"/>
            <a:ext cx="12763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2815207-6785-4503-9403-186D0F7C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57475"/>
            <a:ext cx="9715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p2p-nc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B7A65-67B3-4FE8-8021-8C35F1A4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943225"/>
            <a:ext cx="971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UDP listener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→ UDP :51820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EA37A5-231C-4C8B-AA2A-32AD54C6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33650"/>
            <a:ext cx="13525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33424E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C23A71-366A-4B34-9FC9-E1E7EABF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574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E34FA9-718D-43CE-8AE0-8B1224C5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943225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wg0 gateway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10.66.66.1/24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6224C8-EE8E-4A3D-87D8-578F400D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962275"/>
            <a:ext cx="171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2D2E6-87B2-4BF4-A2DA-7EDC7735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38550"/>
            <a:ext cx="28003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CC7463-4C24-4417-83DE-B00753A5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FORWARD + MASQUERADE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28EA47-407B-424F-959D-1C6055EA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110871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F3E4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3FAD6C-7687-4F6A-B2D0-9B7F3EDD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E2E CHECK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A0EFBC-647C-4283-9B06-A135C0E8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62525"/>
            <a:ext cx="219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two NAT namespaces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D2B9C6-99A0-4309-8CEC-A067C1D52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C10CDF-30B6-47B1-AFD5-933CD5F7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62525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WireGuard handshake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9A503F-BE13-4137-9F2D-31AEF418A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953000"/>
            <a:ext cx="266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7C01D5-5F25-4E16-98B9-C6B32293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62525"/>
            <a:ext cx="3257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HTTP egress = full-tunnel-ok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EB4DC57-41CF-4705-A574-EA45F94A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9115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13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Start the carrier first, then wg-quick up wg0 — policy routing protects DNS, signaling, STUN, and reconnect.</a:t>
            </a:r>
          </a:p>
        </p:txBody>
      </p:sp>
      <p:sp>
        <p:nvSpPr>
          <p:cNvPr id="40" name="footer-7-rule">
            <a:extLst xmlns:a="http://schemas.openxmlformats.org/drawingml/2006/main">
              <a:ext uri="{FF2B5EF4-FFF2-40B4-BE49-F238E27FC236}">
                <a16:creationId xmlns:a16="http://schemas.microsoft.com/office/drawing/2014/main" id="{8E8E828A-56CF-41E2-81D9-1D5C3964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B08584-A00F-4D28-A660-9E8C3281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Sources: docs/USE_CASES.md · scripts/full_tunnel_netns_test.sh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6A46DC-8814-4E44-9C8C-2E11675D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69407027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57A140BB-4352-4962-A1FE-99A230C0C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A3B647CE-FAC5-42FC-AAF6-6B8762E9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89088D3D-F6B9-4421-AE52-86B8C61B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USE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39B80-CBB2-4CFC-9EFC-9A44D5D97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One primitive operation powers many working tools.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B6A54-F4BF-47EF-9E10-BF9BBBFA7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4A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52CBE-9F9C-4526-BEAD-863E90A6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366CF3-D647-4143-931D-B8D5A10AA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76482-9F93-4021-86AE-493385758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OpenSSH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E3867A-38BB-4A09-B99E-ADD75F02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ProxyCommand / :2222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86CAB8-E37C-44BB-880F-9117FBA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E5D91B-5686-4E4C-BA31-5B33A53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939606-76C2-4D14-B081-76320507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4E2B1-AC9A-4D42-90A3-735C970C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2B3329-99FB-489A-BCA9-85149BA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PostgreSQL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3CD08-E304-47A4-A789-E6B38F8F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:15432 → :5432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0E21F7-22E5-4F33-A5E7-A170FED4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84C324-0756-48B3-8E52-70C050CE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DB16F5-45A5-4066-8D01-2A89F847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2C4943-F015-4360-90E0-D93BE3E7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55576-CFAF-4149-9CAC-C6F668C3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RDP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089089-D362-4703-A74A-BE4B2281D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:13389 → :3389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6BF6CA-56DA-4A3F-BB68-014905C9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A5961-9101-47BB-90A2-E51E4BB4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TCP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6B697-983C-44B7-92A5-8A9320E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2AE066-34E0-43FA-8FAC-B0073F47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55467C-E5B7-4E70-8B17-6AFDF397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SOCKS5h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17D356-594F-458F-9583-1D9B6378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remote DNS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3DA048A-7F55-4B7A-BB31-92DC0CBB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32E9C5-7368-456A-8069-146D28A1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SOCKS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F9847-63F2-4967-BFDD-932381BC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75531-691D-475C-BF02-D7F64AFA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D5664B-5367-4F20-AB87-EE53D6C3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238375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OpenVPN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0F9A5F0-7B17-41A8-9B4C-CE31156B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62225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tcp-client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7EBB57-9D0A-4895-90B1-DAA6305C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19425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5C8509-BACD-44BF-8290-C1AB8248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38475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55C2FF"/>
                </a:solidFill>
                <a:latin typeface="Menlo"/>
                <a:ea typeface="Menlo"/>
                <a:cs typeface="Menlo"/>
              </a:rPr>
              <a:t>STREAM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EF3097E-A791-488F-9AA8-DB60E050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099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BD29070-D095-495F-8A2C-2F2F827B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385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975" b="1">
                <a:solidFill>
                  <a:srgbClr val="071019"/>
                </a:solidFill>
                <a:latin typeface="Menlo"/>
                <a:ea typeface="Menlo"/>
                <a:cs typeface="Menlo"/>
              </a:rPr>
              <a:t>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3919988-C0AA-4540-B18D-8FE8A973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0050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WireGuard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181875-261D-4190-B8F3-FD4CA8B6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24350"/>
            <a:ext cx="14668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938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full Internet tunnel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8C49194-D167-40E0-B162-27351D89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781550"/>
            <a:ext cx="6667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1E756E-5326-4A22-B210-650E460FE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006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788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UDP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4CC92F-0D22-4EC7-B259-F44DF097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D484D1B-B0F8-40D0-AED0-ECD5981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72125"/>
            <a:ext cx="10515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The logical port selects the P2P service; it does not have to match the local TCP/UDP port.</a:t>
            </a:r>
          </a:p>
        </p:txBody>
      </p:sp>
      <p:sp>
        <p:nvSpPr>
          <p:cNvPr id="44" name="footer-8-rule">
            <a:extLst xmlns:a="http://schemas.openxmlformats.org/drawingml/2006/main">
              <a:ext uri="{FF2B5EF4-FFF2-40B4-BE49-F238E27FC236}">
                <a16:creationId xmlns:a16="http://schemas.microsoft.com/office/drawing/2014/main" id="{4AE08FA0-2084-4B73-83D3-E4FA30685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6E516D1-F2B2-46F1-924D-87AFF8304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Source: docs/USE_CASES.md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C9FD00-6EFE-417E-B9B7-A136A6F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47604112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B07C83F8-35CC-4391-A056-096A4AC8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79B5C69F-A671-4490-81EB-9FA80AE23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F75DA4FE-0EDB-401D-AFF2-E1B7564D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AAF7D0-E644-40E1-ACE5-A7BD8985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07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07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One installation command; four delivery surfaces.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9C43F-7200-4693-B752-0E4F63F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4861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B141D"/>
          </a:solidFill>
          <a:ln xmlns:a="http://schemas.openxmlformats.org/drawingml/2006/main" w="9525">
            <a:solidFill>
              <a:srgbClr val="2D3A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3BAE11-F0B6-42C0-A462-138B7525E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VERIFIED DEPLOY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25FF5A-7A89-4534-BB4A-08B93DD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952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275" b="1">
                <a:solidFill>
                  <a:srgbClr val="F4F0E8"/>
                </a:solidFill>
                <a:latin typeface="Menlo"/>
                <a:ea typeface="Menlo"/>
                <a:cs typeface="Menlo"/>
              </a:rPr>
              <a:t>curl -fsSL …/deploy.sh | bash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9B6446-24CC-48FE-9C7C-9950F464C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B12FF9-21AF-4EBA-A873-CADB39D5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48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36E735-EB81-4E11-8619-5491379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528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detects OS + architecture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600E90-3D55-4582-8AE0-3EC3A7C3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48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539C6F-AE2C-4015-8894-76D85C76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downloads the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F74785-F19C-4346-A28E-8D8A5A96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481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31794-743D-4420-B21C-7A9EA3D2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5292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verifies SHA256SUMS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4A400F-D4D5-4DDF-B8B5-1E3F4742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48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86D49-BB98-4E85-B3AC-83DF37592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52975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installs p2p-nc + pnc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F5A1E-399D-485E-AC4B-3CC2D7AB6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909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9FCDA3-D315-4164-B667-CE2D9520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8575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D35339-CBA2-431B-B479-F4F9435D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A2B26-7C33-465E-9268-84C92846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F0293-DE5E-4B09-84B6-425B4995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24450"/>
            <a:ext cx="247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2023C-A2B0-48D0-A0AF-5BDA2B94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0764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E25E9F-51B1-4993-A7D8-46C61AF3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RELEASE BINARIES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57D98F-9C1B-422E-AD99-C0BDDAA5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527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Linux · macOS · Windows · Android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amd64 / arm64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A58F4-220A-4199-8561-8067EAD81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35280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3246"/>
          </a:solidFill>
          <a:ln xmlns:a="http://schemas.openxmlformats.org/drawingml/2006/main" w="9525">
            <a:solidFill>
              <a:srgbClr val="55C2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1AD9FE-DCD7-4A21-A38C-9A98F68E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2425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GHCR CONTAINER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565619-CC54-474D-88C1-265A8B6E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82905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5C2FF"/>
                </a:solidFill>
                <a:latin typeface="Menlo"/>
                <a:ea typeface="Menlo"/>
                <a:cs typeface="Menlo"/>
              </a:rPr>
              <a:t>ghcr.io/santaklouse/go-p2p-netcat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5C2F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5C2FF"/>
                </a:solidFill>
                <a:latin typeface="Menlo"/>
                <a:ea typeface="Menlo"/>
                <a:cs typeface="Menlo"/>
              </a:rPr>
              <a:t>non-root · /config identity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D1C0984-C5DB-41D9-B2C5-D6EA96E7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629150"/>
            <a:ext cx="4381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078BACE-4361-4A80-9CD2-FC6B167D3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00600"/>
            <a:ext cx="3905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GO INSTALL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C025C7-7BA1-429D-B75A-29415E748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3905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cmd/p2p-nc + cmd/pnc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57E389"/>
                </a:solidFill>
                <a:latin typeface="Menlo"/>
                <a:ea typeface="Menlo"/>
                <a:cs typeface="Menlo"/>
              </a:rPr>
              <a:t>CGO is not required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EFF761-940A-4074-9902-D6319B0B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76450"/>
            <a:ext cx="2057400" cy="35433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111D27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CFFDBD-2C99-4BB6-88AC-59B833E0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05050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BROWSER PWA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1BD54BD-DF78-46DB-AFBB-71A7FC1D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81300"/>
            <a:ext cx="1600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Static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8A0AF7-B51E-47BE-A5CB-982C56761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38500"/>
            <a:ext cx="160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GitHub Pages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F0D9BC-F7C4-4418-BDC5-1A0EDA34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829050"/>
            <a:ext cx="1600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3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B5584BE-0BBE-44E4-A4D1-AB104FC1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95750"/>
            <a:ext cx="1600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React UI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Web Worker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IndexedDB routes</a:t>
            </a:r>
          </a:p>
          <a:p xmlns:a="http://schemas.openxmlformats.org/drawingml/2006/main">
            <a:pPr algn="ctr">
              <a:buNone/>
              <a:defRPr sz="1050" b="0">
                <a:solidFill>
                  <a:srgbClr val="F4F0E8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4F0E8"/>
                </a:solidFill>
                <a:latin typeface="Menlo"/>
                <a:ea typeface="Menlo"/>
                <a:cs typeface="Menlo"/>
              </a:rPr>
              <a:t>Native WebRTC</a:t>
            </a:r>
          </a:p>
        </p:txBody>
      </p:sp>
      <p:sp>
        <p:nvSpPr>
          <p:cNvPr id="37" name="footer-9-rule">
            <a:extLst xmlns:a="http://schemas.openxmlformats.org/drawingml/2006/main">
              <a:ext uri="{FF2B5EF4-FFF2-40B4-BE49-F238E27FC236}">
                <a16:creationId xmlns:a16="http://schemas.microsoft.com/office/drawing/2014/main" id="{1969D28D-434B-4A15-B58B-53371AB6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CBC82C-707B-4BD2-A041-D868D8A3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Sources: README.md · docs/INSTALLATION.md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79D0D4-545E-43C2-8E85-CC8A8B1E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35691644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9D7C0021-D827-4472-B1BF-D2BC11E5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4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82BA6B34-FF09-49CE-B846-B7049178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6A46C318-DBCF-4F63-970D-4C83D810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RELIABILITY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FFC033-E064-453E-8DF8-DC58D204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29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Tests target the exact failure boundaries introduced by the architecture.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E40D16-3A7F-4619-818F-4A6FDD43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3143250" cy="35433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071019"/>
          </a:solidFill>
          <a:ln xmlns:a="http://schemas.openxmlformats.org/drawingml/2006/main" w="9525">
            <a:solidFill>
              <a:srgbClr val="2D3A4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68A19D-57CA-4B02-906B-4CBC1B41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NATIVE WEBRTC SOAK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D67F8-4523-462F-A79E-F217837C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571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75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60 / 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486718-3D06-4360-82FB-00EB6E90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workload iterations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DCC7B-89CB-4FFA-9E6D-4AE46698C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5762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24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BB1C46-80B9-40A4-91DA-FE54A65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95750"/>
            <a:ext cx="2571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2400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1 152 MiB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8EFD25-C5BD-4641-A000-ED39BE74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transferredBytes in a fresh JSON report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A10D10-AC12-48AB-A973-2E50D10E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571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Pion DataChannel · SHA-256 · reconnect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8BB767-E81E-4514-AA27-9ABF86AF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76450"/>
            <a:ext cx="3524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9AA8B4"/>
                </a:solidFill>
                <a:latin typeface="Menlo"/>
                <a:ea typeface="Menlo"/>
                <a:cs typeface="Menlo"/>
              </a:rPr>
              <a:t>CI COVERAGE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3C4FDD-A911-471F-AE75-ECAC617C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003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B881F-98F0-4218-B311-6D0F03E43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00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Go tests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1B3F2-7746-43C7-843C-D7899B95B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574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Linux · macOS · Windows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EAB1F-2020-4B8C-94B4-C49A376B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9622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A5CE2-5BC7-45B7-B87D-B86DD8D0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E0DA3D-A488-4D5F-AC06-E051B309F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480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Race detector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EF6F1A-D3D9-41FD-825E-1F892BD7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051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Linux · ./...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3B314-D7DA-4AC5-B59C-016ADFBF4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99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B004FD-10AA-4451-B2CF-97B042C2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957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190F85-54BD-432D-9574-42F90A35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6957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Full tunnel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5C33EB-A82E-4BAF-88D5-D75A0B46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528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2 NAT + WireGuard + HTTP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582403-B298-4119-9E37-CB3108BB2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2576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5F4DA5-E855-4AA8-9EA6-803AABE2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434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F849AE-F404-4EDB-A390-5FE9BDF3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Docker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CD468AD-5EF0-4163-AE7A-E66732DE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005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buildx + runtime checks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97571E-AE1E-4ECF-915D-9CDE316FE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053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66A41CC-2F31-442F-AAAC-7C5A45E6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91100"/>
            <a:ext cx="9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DC937-0FDA-46CD-A04C-B5D3C773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911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WebRTC soak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497AFF-4704-493A-B246-76F2E603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24827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weekly Ubuntu + macOS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7FF53D-D1CD-43FF-88DF-85F0EAB4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553075"/>
            <a:ext cx="3333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39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6DE772-D3E7-4981-92A2-E32DD40E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76450"/>
            <a:ext cx="36576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402D16"/>
          </a:solidFill>
          <a:ln xmlns:a="http://schemas.openxmlformats.org/drawingml/2006/main" w="9525">
            <a:solidFill>
              <a:srgbClr val="FFB45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B86465-B763-4A3B-822F-B3C8F821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305050"/>
            <a:ext cx="320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WHAT SOAK DOES NOT PROVE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81B1F8-138E-41D0-82AD-3878C4CA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41DE144-ED2B-4A27-9B42-A851FF564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860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public Nostr/tracker availability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F18F66-2631-46C5-8E28-B1C58AE6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48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9277E7D-484B-41A1-BC8C-679F8065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5277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intercontinental latency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A14E075-9577-44F3-A443-E4FB2388E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147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21C2A95-8992-4995-9559-BC69073A9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1950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every NAT and firewall type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A20B8AA-ABB2-45C8-AB2F-16D72A2A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81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7AA006-DEB1-44EE-AD96-08A9EF9F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862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background browser tabs and sleep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D22FCA-10EE-43A2-A2A2-7E22B67C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482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F92D7C3-E42D-4D34-AC78-0741CFED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050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100% relay-free connectivity</a:t>
            </a:r>
          </a:p>
        </p:txBody>
      </p:sp>
      <p:sp>
        <p:nvSpPr>
          <p:cNvPr id="46" name="footer-10-rule">
            <a:extLst xmlns:a="http://schemas.openxmlformats.org/drawingml/2006/main">
              <a:ext uri="{FF2B5EF4-FFF2-40B4-BE49-F238E27FC236}">
                <a16:creationId xmlns:a16="http://schemas.microsoft.com/office/drawing/2014/main" id="{3F142E8F-BC93-48DC-B73A-EA853BE4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606C50-FEC2-4E22-9A72-AFD67DB0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Sources: cmd/webrtc-soak · .github/workflows/ci.yml · webrtc-soak.yml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40E784-9AA1-4C74-A94A-0420FC6C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1992993534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FD8BB610-4CE7-49FA-9885-3FCD0A09A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1-marker">
            <a:extLst xmlns:a="http://schemas.openxmlformats.org/drawingml/2006/main">
              <a:ext uri="{FF2B5EF4-FFF2-40B4-BE49-F238E27FC236}">
                <a16:creationId xmlns:a16="http://schemas.microsoft.com/office/drawing/2014/main" id="{ADFA2D44-7EF6-4496-B83D-F96D1328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1-label">
            <a:extLst xmlns:a="http://schemas.openxmlformats.org/drawingml/2006/main">
              <a:ext uri="{FF2B5EF4-FFF2-40B4-BE49-F238E27FC236}">
                <a16:creationId xmlns:a16="http://schemas.microsoft.com/office/drawing/2014/main" id="{4FFB54E0-79C8-4408-95EB-57276A16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COMMANDS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15E92-F217-4D82-B7AE-DFA7E9F5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10668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071019"/>
                </a:solidFill>
                <a:latin typeface="Avenir Next"/>
                <a:ea typeface="Avenir Next"/>
                <a:cs typeface="Avenir Next"/>
              </a:defRPr>
            </a:pPr>
            <a:r>
              <a:rPr sz="3150" b="1">
                <a:solidFill>
                  <a:srgbClr val="071019"/>
                </a:solidFill>
                <a:latin typeface="Avenir Next"/>
                <a:ea typeface="Avenir Next"/>
                <a:cs typeface="Avenir Next"/>
              </a:rPr>
              <a:t>Three command pairs cover the highest-value use cases.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3A0255-ED40-4588-B65D-48F71678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Every example uses the documentation PeerId and real 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AB129-7A24-41E5-BE3D-86E113735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109728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9E4DA"/>
          </a:solidFill>
          <a:ln xmlns:a="http://schemas.openxmlformats.org/drawingml/2006/main" w="9525">
            <a:solidFill>
              <a:srgbClr val="CFC7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47BC51-F14E-4A59-83C7-FA54BEFE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76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750C1E-8BFD-4584-81D6-D8480C24E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51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7E389"/>
                </a:solidFill>
                <a:latin typeface="Avenir Next"/>
                <a:ea typeface="Avenir Next"/>
                <a:cs typeface="Avenir Next"/>
              </a:rPr>
              <a:t>SSH THROUGH A LOCAL 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CB9E8-0224-4C8F-AE39-B84A0621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515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server$ p2p-nc -l -k -d 127.0.0.1 -p 22 22022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p2p-nc -p 2222 12D3KooWQ3uxpHgjDKE6vGmvzKS8RPbxUDLwJ7XCLaD6YXdUfbR9 22022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ssh -p 2222 alice@127.0.0.1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521469-5C3B-4015-8955-3ECE24F0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109728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9E4DA"/>
          </a:solidFill>
          <a:ln xmlns:a="http://schemas.openxmlformats.org/drawingml/2006/main" w="9525">
            <a:solidFill>
              <a:srgbClr val="CFC7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5DDC8D-0039-420D-BE38-8287B088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762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C2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F41BF-AE60-4F98-8712-9C7C5405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05200"/>
            <a:ext cx="1051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5C2FF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55C2FF"/>
                </a:solidFill>
                <a:latin typeface="Avenir Next"/>
                <a:ea typeface="Avenir Next"/>
                <a:cs typeface="Avenir Next"/>
              </a:rPr>
              <a:t>TCP PORT FORWARDING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36A197-EA95-4951-A3F4-74D86229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0515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server$ p2p-nc -l -k -d 127.0.0.1 -p 5432 25432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p2p-nc -p 15432 12D3KooWQ3uxpHgjDKE6vGmvzKS8RPbxUDLwJ7XCLaD6YXdUfbR9 25432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BB7A8F-A9E0-46A7-A036-160B4317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E9E4DA"/>
          </a:solidFill>
          <a:ln xmlns:a="http://schemas.openxmlformats.org/drawingml/2006/main" w="9525">
            <a:solidFill>
              <a:srgbClr val="CFC7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24B50-5EA1-41A8-BF06-B1C79E8B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4A6C0-F609-4C47-85DE-BC088CF9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10515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defRPr>
            </a:pPr>
            <a:r>
              <a:rPr sz="825" b="1">
                <a:solidFill>
                  <a:srgbClr val="FFB454"/>
                </a:solidFill>
                <a:latin typeface="Avenir Next"/>
                <a:ea typeface="Avenir Next"/>
                <a:cs typeface="Avenir Next"/>
              </a:rPr>
              <a:t>WIREGUARD CARRIER FOR A FULL TUNNEL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94BBF-AA75-46E0-99BD-AAE39B5A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10515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server$ p2p-nc -u -l -k -d 127.0.0.1 -p 51820 35182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sudo wireguard-full-tunnel.sh -- /usr/local/bin/p2p-nc -u --udp-idle-timeout 0 \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          -p 15182 12D3KooWQ3uxpHgjDKE6vGmvzKS8RPbxUDLwJ7XCLaD6YXdUfbR9 35182</a:t>
            </a:r>
          </a:p>
          <a:p xmlns:a="http://schemas.openxmlformats.org/drawingml/2006/main">
            <a:pPr algn="l">
              <a:buNone/>
              <a:defRPr sz="863" b="0">
                <a:solidFill>
                  <a:srgbClr val="071019"/>
                </a:solidFill>
                <a:latin typeface="Menlo"/>
                <a:ea typeface="Menlo"/>
                <a:cs typeface="Menlo"/>
              </a:defRPr>
            </a:pPr>
            <a:r>
              <a:rPr sz="863" b="0">
                <a:solidFill>
                  <a:srgbClr val="071019"/>
                </a:solidFill>
                <a:latin typeface="Menlo"/>
                <a:ea typeface="Menlo"/>
                <a:cs typeface="Menlo"/>
              </a:rPr>
              <a:t>client$ sudo wg-quick up wg0</a:t>
            </a:r>
          </a:p>
        </p:txBody>
      </p:sp>
      <p:sp>
        <p:nvSpPr>
          <p:cNvPr id="18" name="footer-11-rule">
            <a:extLst xmlns:a="http://schemas.openxmlformats.org/drawingml/2006/main">
              <a:ext uri="{FF2B5EF4-FFF2-40B4-BE49-F238E27FC236}">
                <a16:creationId xmlns:a16="http://schemas.microsoft.com/office/drawing/2014/main" id="{658A39E6-D576-49B6-956F-34287177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C9B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9B4AD2-27D1-4766-ADED-E105B073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756F66"/>
                </a:solidFill>
                <a:latin typeface="Avenir Next"/>
                <a:ea typeface="Avenir Next"/>
                <a:cs typeface="Avenir Next"/>
              </a:rPr>
              <a:t>Source: docs/USE_CASES.md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A375C6-3676-4665-B3AD-E1A38499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87783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687783"/>
                </a:solidFill>
                <a:latin typeface="Menlo"/>
                <a:ea typeface="Menlo"/>
                <a:cs typeface="Menlo"/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379305826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326F830-E108-4FAA-B8FB-A3D66755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2-marker">
            <a:extLst xmlns:a="http://schemas.openxmlformats.org/drawingml/2006/main">
              <a:ext uri="{FF2B5EF4-FFF2-40B4-BE49-F238E27FC236}">
                <a16:creationId xmlns:a16="http://schemas.microsoft.com/office/drawing/2014/main" id="{CBCE37C5-2150-46A2-9723-68D674ED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2-label">
            <a:extLst xmlns:a="http://schemas.openxmlformats.org/drawingml/2006/main">
              <a:ext uri="{FF2B5EF4-FFF2-40B4-BE49-F238E27FC236}">
                <a16:creationId xmlns:a16="http://schemas.microsoft.com/office/drawing/2014/main" id="{0A25F2E1-6D50-4273-B99D-AB41E3E9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975" b="1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3744A2-CCA0-4453-9B8C-07C1CB07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28700"/>
            <a:ext cx="6191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Use p2p-netcat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when identity should</a:t>
            </a:r>
          </a:p>
          <a:p xmlns:a="http://schemas.openxmlformats.org/drawingml/2006/main">
            <a:pPr algn="l">
              <a:buNone/>
              <a:def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3600" b="1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outlive the address.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A1570-033F-46E6-9158-1A57F0A8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5810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9AA8B4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>
                <a:solidFill>
                  <a:srgbClr val="9AA8B4"/>
                </a:solidFill>
                <a:latin typeface="Avenir Next"/>
                <a:ea typeface="Avenir Next"/>
                <a:cs typeface="Avenir Next"/>
              </a:rPr>
              <a:t>PeerId is the stable entry point. Route racing and fallback are the delivery mechanism.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333B06-544E-4AC9-B1D1-5BD0FEE5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5800"/>
            <a:ext cx="58102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63A2A"/>
          </a:solidFill>
          <a:ln xmlns:a="http://schemas.openxmlformats.org/drawingml/2006/main" w="9525">
            <a:solidFill>
              <a:srgbClr val="57E38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4F15C6-5AD4-4FBD-8C09-4E9D643A6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5353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1350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github.com/santaklouse/go-p2p-netcat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A2B95-2382-44E0-99AD-D43A7A84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990600"/>
            <a:ext cx="9525" cy="470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3A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06DB55-C015-4CFA-8DE7-4E2DB434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0668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57E389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57E389"/>
                </a:solidFill>
                <a:latin typeface="Menlo"/>
                <a:ea typeface="Menlo"/>
                <a:cs typeface="Menlo"/>
              </a:rPr>
              <a:t>GOOD 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6C0E9-D65F-4A11-B730-289A10F5D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50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6EBD6-88E9-45DE-AC7E-7F914119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4001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access to home and edge hosts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5D3814-1858-4429-9DAA-6C38AAA7A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2BC442-52BC-4971-AA59-3C52234AB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573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SSH and private TCP services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88F073-98E5-4B97-BCD2-31972617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193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32D46B-A931-4E7C-8A7C-41F9A8E9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145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UDP/WireGuard across NAT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95132-289B-4A0E-8C8C-83ED2B4F3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65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7E38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38949B-B6A1-4D00-A758-5AF2C227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7177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temporary tunnels without a control plane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EBE05C-AE63-487D-8D6E-55116E99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766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825" b="1">
                <a:solidFill>
                  <a:srgbClr val="FFB454"/>
                </a:solidFill>
                <a:latin typeface="Menlo"/>
                <a:ea typeface="Menlo"/>
                <a:cs typeface="Menlo"/>
              </a:rPr>
              <a:t>PLAN B 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99517-17F6-4E3E-B65D-55EF4216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14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A557EA-8362-4C4E-BA88-5290977A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100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symmetric NAT or blocked UDP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25D9B-A8F1-4F15-9AD8-E70BF2C75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720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CA4D5-8500-4907-8E17-20060F76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672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guaranteed enterprise ingress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1DA86-F243-4F69-A59D-4F6A66C2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292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45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9A36B-9E38-4EC7-8395-DD01B515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24425"/>
            <a:ext cx="342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defRPr>
            </a:pPr>
            <a:r>
              <a:rPr sz="1125" b="0">
                <a:solidFill>
                  <a:srgbClr val="F4F0E8"/>
                </a:solidFill>
                <a:latin typeface="Avenir Next"/>
                <a:ea typeface="Avenir Next"/>
                <a:cs typeface="Avenir Next"/>
              </a:rPr>
              <a:t>unsupported SOCKS UDP ASSOCIATE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D97076-AC67-404D-BDC2-DE03D88B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5626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FFB454"/>
                </a:solidFill>
                <a:latin typeface="Menlo"/>
                <a:ea typeface="Menlo"/>
                <a:cs typeface="Menlo"/>
              </a:defRPr>
            </a:pPr>
            <a:r>
              <a:rPr sz="938" b="0">
                <a:solidFill>
                  <a:srgbClr val="FFB454"/>
                </a:solidFill>
                <a:latin typeface="Menlo"/>
                <a:ea typeface="Menlo"/>
                <a:cs typeface="Menlo"/>
              </a:rPr>
              <a:t>TURN · Circuit Relay v2 · reachable TCP/WSS route</a:t>
            </a:r>
          </a:p>
        </p:txBody>
      </p:sp>
      <p:sp>
        <p:nvSpPr>
          <p:cNvPr id="26" name="footer-12-rule">
            <a:extLst xmlns:a="http://schemas.openxmlformats.org/drawingml/2006/main">
              <a:ext uri="{FF2B5EF4-FFF2-40B4-BE49-F238E27FC236}">
                <a16:creationId xmlns:a16="http://schemas.microsoft.com/office/drawing/2014/main" id="{FEEE104D-5164-4401-A226-C271DC83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4FD8-BDE1-4015-81B2-D6547F4C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952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buNone/>
              <a:def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defRPr>
            </a:pPr>
            <a:r>
              <a:rPr sz="713" b="0">
                <a:solidFill>
                  <a:srgbClr val="687783"/>
                </a:solidFill>
                <a:latin typeface="Avenir Next"/>
                <a:ea typeface="Avenir Next"/>
                <a:cs typeface="Avenir Next"/>
              </a:rPr>
              <a:t>Sources: docs/ARCHITECTURE.md · docs/WEBRTC_MIGRATION.md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F7AA5-5817-45AA-8E24-C5C7E0D7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515100"/>
            <a:ext cx="1104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AA8B4"/>
                </a:solidFill>
                <a:latin typeface="Menlo"/>
                <a:ea typeface="Menlo"/>
                <a:cs typeface="Menlo"/>
              </a:defRPr>
            </a:pPr>
            <a:r>
              <a:rPr sz="825" b="0">
                <a:solidFill>
                  <a:srgbClr val="9AA8B4"/>
                </a:solidFill>
                <a:latin typeface="Menlo"/>
                <a:ea typeface="Menlo"/>
                <a:cs typeface="Menlo"/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12665033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2026-08-05T09:19:14.6580000Z</dcterms:created>
  <dcterms:modified xsi:type="dcterms:W3CDTF">2026-08-05T09:19:14.6590000Z</dcterms:modified>
</coreProperties>
</file>